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4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371600"/>
            <a:ext cx="61722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7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Calibri"/>
              </a:rPr>
              <a:t>Міністерство освіти і науки України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Київський національний університет імені Тараса Шевченка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BF2FA"/>
                </a:solidFill>
                <a:latin typeface="Calibri"/>
              </a:rPr>
              <a:t>Факультет радіофізики, електроніки та комп’ютерних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ЗВІТ З НАУКОВО-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ВИРОБНИЧОЇ ПРАКТИКИ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206240"/>
            <a:ext cx="137160" cy="1463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Calibri"/>
              </a:rPr>
              <a:t>Виконав: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5262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Рева Іван Михайлович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9377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BF2FA"/>
                </a:solidFill>
                <a:latin typeface="Calibri"/>
              </a:rPr>
              <a:t>Студент 4 курсу • Телекомунікації та радіотехніка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35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EBF2FA"/>
                </a:solidFill>
                <a:latin typeface="Calibri"/>
              </a:rPr>
              <a:t>Керівники: доц. Жиров Г.Б.  •  Кольцова С.В.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0350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EBF2FA"/>
                </a:solidFill>
                <a:latin typeface="Calibri"/>
              </a:rPr>
              <a:t>Київ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4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Вступ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EBF2FA"/>
                </a:solidFill>
                <a:latin typeface="Calibri"/>
              </a:rPr>
              <a:t>Місце практики — Інформаційно-обчислювальний центр КНУ ім. Т. Шевченка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486400" cy="2468880"/>
          </a:xfrm>
          <a:prstGeom prst="roundRect">
            <a:avLst/>
          </a:prstGeom>
          <a:solidFill>
            <a:srgbClr val="EBF2FA"/>
          </a:solidFill>
          <a:ln w="19050">
            <a:solidFill>
              <a:srgbClr val="204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04982"/>
                </a:solidFill>
                <a:latin typeface="Calibri"/>
              </a:rPr>
              <a:t>Мета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12529"/>
                </a:solidFill>
                <a:latin typeface="Calibri"/>
              </a:rPr>
              <a:t>Аналіз роботи локальної телекомунікаційної мережі, дослідження принципів конфігурації мережевого обладнання та забезпечення стабільної і безпечної роботи інфраструктури.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486400" cy="2468880"/>
          </a:xfrm>
          <a:prstGeom prst="roundRect">
            <a:avLst/>
          </a:prstGeom>
          <a:solidFill>
            <a:srgbClr val="EBF2FA"/>
          </a:solidFill>
          <a:ln w="19050">
            <a:solidFill>
              <a:srgbClr val="36A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17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36A2EB"/>
                </a:solidFill>
                <a:latin typeface="Calibri"/>
              </a:rPr>
              <a:t>Об'єкт дослідження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82880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12529"/>
                </a:solidFill>
                <a:latin typeface="Calibri"/>
              </a:rPr>
              <a:t>Локальна комп'ютерна мережа гуртожитків КНУ та мережеве обладнання, що забезпечує доступ користувачів до мережі Інтернет.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31920"/>
            <a:ext cx="5486400" cy="2651760"/>
          </a:xfrm>
          <a:prstGeom prst="roundRect">
            <a:avLst/>
          </a:prstGeom>
          <a:solidFill>
            <a:srgbClr val="EBF2FA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69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39C12"/>
                </a:solidFill>
                <a:latin typeface="Calibri"/>
              </a:rPr>
              <a:t>Предмет дослідження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48056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12529"/>
                </a:solidFill>
                <a:latin typeface="Calibri"/>
              </a:rPr>
              <a:t>Процеси конфігурації та адміністрування мережевого обладнання, технології VLAN, AAA та TACACS+, методи моніторингу і виявлення конфліктів IP-адрес.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31920"/>
            <a:ext cx="5486400" cy="2651760"/>
          </a:xfrm>
          <a:prstGeom prst="roundRect">
            <a:avLst/>
          </a:prstGeom>
          <a:solidFill>
            <a:srgbClr val="EBF2FA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69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7AE60"/>
                </a:solidFill>
                <a:latin typeface="Calibri"/>
              </a:rPr>
              <a:t>Практичне значення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48056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12529"/>
                </a:solidFill>
                <a:latin typeface="Calibri"/>
              </a:rPr>
              <a:t>Закріплення теоретичних знань і отримання практичних навичок роботи з комутаторами та маршрутизаторами в умовах реальної експлуатації.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4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Завдання та методи дослідження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04982"/>
                </a:solidFill>
                <a:latin typeface="Calibri"/>
              </a:rPr>
              <a:t>Основні завдання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12529"/>
                </a:solidFill>
                <a:latin typeface="Calibri"/>
              </a:rPr>
              <a:t>•  Ознайомлення зі структурою та принципами роботи мережі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529"/>
                </a:solidFill>
                <a:latin typeface="Calibri"/>
              </a:rPr>
              <a:t>•  Аналіз роботи маршрутизаторів і комутаторів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529"/>
                </a:solidFill>
                <a:latin typeface="Calibri"/>
              </a:rPr>
              <a:t>•  Налаштування VLAN та параметрів доступу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529"/>
                </a:solidFill>
                <a:latin typeface="Calibri"/>
              </a:rPr>
              <a:t>•  Тестування нових конфігурацій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529"/>
                </a:solidFill>
                <a:latin typeface="Calibri"/>
              </a:rPr>
              <a:t>•  Аналіз документації та формування таблиць сумісності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04982"/>
                </a:solidFill>
                <a:latin typeface="Calibri"/>
              </a:rPr>
              <a:t>Методи дослідження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12529"/>
                </a:solidFill>
                <a:latin typeface="Calibri"/>
              </a:rPr>
              <a:t>•  Технічний аналіз обладнання та характеристик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529"/>
                </a:solidFill>
                <a:latin typeface="Calibri"/>
              </a:rPr>
              <a:t>•  Діагностика несправностей мережевими утилітами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529"/>
                </a:solidFill>
                <a:latin typeface="Calibri"/>
              </a:rPr>
              <a:t>•  Порівняння конфігурацій і перевірка сумісності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12529"/>
                </a:solidFill>
                <a:latin typeface="Calibri"/>
              </a:rPr>
              <a:t>•  Спостереження за роботою мережі в реальних умовах</a:t>
            </a:r>
          </a:p>
        </p:txBody>
      </p:sp>
      <p:pic>
        <p:nvPicPr>
          <p:cNvPr id="9" name="Picture 8" descr="go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4206240"/>
            <a:ext cx="31699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4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Розділ 1. Структура локальної мережі гуртожитків</a:t>
            </a:r>
          </a:p>
        </p:txBody>
      </p:sp>
      <p:pic>
        <p:nvPicPr>
          <p:cNvPr id="5" name="Picture 4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30936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79" y="137160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204982"/>
                </a:solidFill>
                <a:latin typeface="Calibri"/>
              </a:rPr>
              <a:t>Архітектура мережі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874519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Calibri"/>
              </a:rPr>
              <a:t>•  Центральний маршрутизатор MikroTik RB5009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Calibri"/>
              </a:rPr>
              <a:t>•  Керовані комутатори D-Link DGS-1210 (L2)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Calibri"/>
              </a:rPr>
              <a:t>•  Некеровані комутатори DES-1000 / 2000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Calibri"/>
              </a:rPr>
              <a:t>•  Магістральні trunk-канали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Calibri"/>
              </a:rPr>
              <a:t>•  Сегментація через VLAN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Calibri"/>
              </a:rPr>
              <a:t>•  Підключення сотень користувачів гуртожитків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4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Мережеве обладнання — маршрутизатор і комутатори</a:t>
            </a:r>
          </a:p>
        </p:txBody>
      </p:sp>
      <p:pic>
        <p:nvPicPr>
          <p:cNvPr id="5" name="Picture 4" descr="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315200" cy="406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3716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4982"/>
                </a:solidFill>
                <a:latin typeface="Calibri"/>
              </a:rPr>
              <a:t>MikroTik RB5009UG+S+IN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82880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4-ядерний CPU, велика RAM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8× 1GbE + 1× 10G SFP+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Стабільність при великій кількості сесій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DHCP, NAT, маршрутизація між VLAN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41148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36A2EB"/>
                </a:solidFill>
                <a:latin typeface="Calibri"/>
              </a:rPr>
              <a:t>D-Link DGS-1210 (L2)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457200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VLAN, QoS, Loopback Detection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Веб-інтерфейс адміністрування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Моніторинг трафіку та MAC-таблиць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Сегментація поверхів гуртожитків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4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Розділ 2.1. Сегментація через VLAN</a:t>
            </a:r>
          </a:p>
        </p:txBody>
      </p:sp>
      <p:pic>
        <p:nvPicPr>
          <p:cNvPr id="5" name="Picture 4" descr="v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6882938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37160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4982"/>
                </a:solidFill>
                <a:latin typeface="Calibri"/>
              </a:rPr>
              <a:t>Таблиця VLAN мережі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1874519"/>
          <a:ext cx="4206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/>
                <a:gridCol w="1402080"/>
                <a:gridCol w="140208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VLAN</a:t>
                      </a:r>
                    </a:p>
                  </a:txBody>
                  <a:tcPr>
                    <a:solidFill>
                      <a:srgbClr val="2049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Призначення</a:t>
                      </a:r>
                    </a:p>
                  </a:txBody>
                  <a:tcPr>
                    <a:solidFill>
                      <a:srgbClr val="2049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Підмережа</a:t>
                      </a:r>
                    </a:p>
                  </a:txBody>
                  <a:tcPr>
                    <a:solidFill>
                      <a:srgbClr val="2049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ADMIN</a:t>
                      </a:r>
                    </a:p>
                  </a:txBody>
                  <a:tcPr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192.168.10.0/24</a:t>
                      </a:r>
                    </a:p>
                  </a:txBody>
                  <a:tcPr>
                    <a:solidFill>
                      <a:srgbClr val="EB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Students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192.168.20.0/24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Guest (Wi-Fi)</a:t>
                      </a:r>
                    </a:p>
                  </a:txBody>
                  <a:tcPr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192.168.30.0/24</a:t>
                      </a:r>
                    </a:p>
                  </a:txBody>
                  <a:tcPr>
                    <a:solidFill>
                      <a:srgbClr val="EB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192.168.40.0/24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99</a:t>
                      </a:r>
                    </a:p>
                  </a:txBody>
                  <a:tcPr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Management</a:t>
                      </a:r>
                    </a:p>
                  </a:txBody>
                  <a:tcPr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12529"/>
                          </a:solidFill>
                        </a:rPr>
                        <a:t>192.168.99.0/24</a:t>
                      </a:r>
                    </a:p>
                  </a:txBody>
                  <a:tcPr>
                    <a:solidFill>
                      <a:srgbClr val="EBF2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0" y="4937760"/>
            <a:ext cx="4206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C757D"/>
                </a:solidFill>
                <a:latin typeface="Calibri"/>
              </a:rPr>
              <a:t>Маршрутизація між VLAN — на MikroTik</a:t>
            </a:r>
          </a:p>
          <a:p>
            <a:pPr algn="l"/>
            <a:r>
              <a:rPr sz="1200" b="0">
                <a:solidFill>
                  <a:srgbClr val="6C757D"/>
                </a:solidFill>
                <a:latin typeface="Calibri"/>
              </a:rPr>
              <a:t>з тегуванням 802.1Q (subinterfaces).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4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Розділ 2.2. AAA та TACACS+</a:t>
            </a:r>
          </a:p>
        </p:txBody>
      </p:sp>
      <p:pic>
        <p:nvPicPr>
          <p:cNvPr id="5" name="Picture 4" descr="a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858000" cy="381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2801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4982"/>
                </a:solidFill>
                <a:latin typeface="Calibri"/>
              </a:rPr>
              <a:t>Навіщо потрібен TACACS+?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73736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Централізоване керування доступом до 20+ комутаторів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Повне шифрування трафіку (на відміну від RADIUS)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Розмежування прав: admin / operator / monitor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Аудит дій адміністраторів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Інтеграція з Cisco ISE 2.6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4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Адміністрування, моніторинг і діагностика</a:t>
            </a:r>
          </a:p>
        </p:txBody>
      </p:sp>
      <p:pic>
        <p:nvPicPr>
          <p:cNvPr id="5" name="Picture 4" descr="mon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858000" cy="381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37160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4982"/>
                </a:solidFill>
                <a:latin typeface="Calibri"/>
              </a:rPr>
              <a:t>Виконані операції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82880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Перевірка таблиць VLAN та MAC-адрес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Аналіз DHCP, NAT, таблиць маршрутизації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Перегляд активних підключень у RouterOS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Діагностика втрати зв'язку (гуртожиток №10)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Тестування ping після зміни конфігурацій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Контроль навантаження на DGS-1210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4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Розділ 3. Виконання професійних обов'язків</a:t>
            </a:r>
          </a:p>
        </p:txBody>
      </p:sp>
      <p:pic>
        <p:nvPicPr>
          <p:cNvPr id="5" name="Picture 4" descr="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82296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37160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4982"/>
                </a:solidFill>
                <a:latin typeface="Calibri"/>
              </a:rPr>
              <a:t>Ключові досягнення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2880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ПЗО.1 — Робота в технічній команді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ПЗО.2 — Аналіз показників мережі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ПЗО.3 — Висновок щодо резервного живлення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ПЗО.5 — Тестування конфігурацій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ПЗО.7 — Збір даних через Google Форми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ПЗО.8 — Таблиці сумісності Proline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Calibri"/>
              </a:rPr>
              <a:t>•  ПЗО.9 — VLAN та AAA / TACACS+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4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Висновки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371600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Закріплено теоретичні знання за спеціальністю 172 «Телекомунікації та радіотехніка»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Здобуто практичні навички роботи з MikroTik і D-Link, налаштування VLAN та сегментації мережі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Досліджено централізоване керування доступом — модель AAA та протокол TACACS+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Виконано моніторинг роботи мережі, діагностику аварійних ситуацій, оцінку навантаження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Отримано досвід командної роботи та підготовки технічної документації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Виконано понад 2/3 професійних завдань для кваліфікації «Фахівець електронних комунікацій»</a:t>
            </a:r>
          </a:p>
        </p:txBody>
      </p:sp>
      <p:pic>
        <p:nvPicPr>
          <p:cNvPr id="6" name="Picture 5" descr="conc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645920"/>
            <a:ext cx="65836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55778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39C12"/>
                </a:solidFill>
                <a:latin typeface="Calibri"/>
              </a:rPr>
              <a:t>Дякую за увагу!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0350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EBF2FA"/>
                </a:solidFill>
                <a:latin typeface="Calibri"/>
              </a:rPr>
              <a:t>Готовий до питань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