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1371600"/>
            <a:ext cx="4389120" cy="438912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0" y="1371600"/>
            <a:ext cx="4389120" cy="43891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315200" y="1371600"/>
            <a:ext cx="4389120" cy="43891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Зображення університету / емблеми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BF2FA"/>
                </a:solidFill>
                <a:latin typeface="Calibri"/>
              </a:rPr>
              <a:t>Міністерство освіти і науки України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Київський національний університет імені Тараса Шевченка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BF2FA"/>
                </a:solidFill>
                <a:latin typeface="Calibri"/>
              </a:rPr>
              <a:t>Факультет радіофізики, електроніки та комп'ютерних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BF2FA"/>
                </a:solidFill>
                <a:latin typeface="Calibri"/>
              </a:rPr>
              <a:t>Кафедра радіотехніки та радіоелектронних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ЗВІТ З НАУКОВО-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ВИРОБНИЧОЇ ПРАКТИКИ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137160" cy="1554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BF2FA"/>
                </a:solidFill>
                <a:latin typeface="Calibri"/>
              </a:rPr>
              <a:t>Виконав: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Рева Іван Михайлович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BF2FA"/>
                </a:solidFill>
                <a:latin typeface="Calibri"/>
              </a:rPr>
              <a:t>Студент 4 курсу, група ПАЗТК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BF2FA"/>
                </a:solidFill>
                <a:latin typeface="Calibri"/>
              </a:rPr>
              <a:t>Спеціальність «Телекомунікації та радіотехніка»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BF2FA"/>
                </a:solidFill>
                <a:latin typeface="Calibri"/>
              </a:rPr>
              <a:t>Керівники: доц. Жиров Г.Б.  •  Кольцова С.В.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080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BF2FA"/>
                </a:solidFill>
                <a:latin typeface="Calibri"/>
              </a:rPr>
              <a:t>Київ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Вступ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BF2FA"/>
                </a:solidFill>
                <a:latin typeface="Calibri"/>
              </a:rPr>
              <a:t>Місце практики — Інформаційно-обчислювальний центр КНУ ім. Т. Шевченка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4982"/>
                </a:solidFill>
                <a:latin typeface="Calibri"/>
              </a:rPr>
              <a:t>Місце та об'єкт практики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7772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529"/>
                </a:solidFill>
                <a:latin typeface="Calibri"/>
              </a:rPr>
              <a:t>Я, Рева Іван Михайлович, студент 4-го курсу групи ПАЗТК факультету радіофізики, електроніки та комп'ютерних систем, проходив навчально-виробничу практику в Інформаційно-обчислювальному центрі КНУ ім. Т. Шевченка.</a:t>
            </a:r>
          </a:p>
          <a:p>
            <a:pPr algn="l"/>
            <a:r>
              <a:rPr sz="1400" b="0" i="0">
                <a:solidFill>
                  <a:srgbClr val="212529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12529"/>
                </a:solidFill>
                <a:latin typeface="Calibri"/>
              </a:rPr>
              <a:t>Під час практики я ознайомився з принципами організації та функціонування локальної комп'ютерної мережі, особливостями роботи мережевого обладнання та процесами адміністрування телекомунікаційної інфраструктури гуртожитків КНУ.</a:t>
            </a:r>
          </a:p>
          <a:p>
            <a:pPr algn="l"/>
            <a:r>
              <a:rPr sz="1400" b="0" i="0">
                <a:solidFill>
                  <a:srgbClr val="212529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212529"/>
                </a:solidFill>
                <a:latin typeface="Calibri"/>
              </a:rPr>
              <a:t>Мережа гуртожитків — це масштабна інфраструктура, що обслуговує сотні одночасних користувачів і має забезпечувати стабільний та безпечний доступ до Інтернету і внутрішніх ресурсів університету.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280160"/>
            <a:ext cx="3291840" cy="512064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503920" y="1280160"/>
            <a:ext cx="3291840" cy="512064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503920" y="1280160"/>
            <a:ext cx="3291840" cy="512064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Фото центру / робочого місця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Мета, об'єкт і предмет дослідження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2651760"/>
          </a:xfrm>
          <a:prstGeom prst="roundRect">
            <a:avLst/>
          </a:prstGeom>
          <a:solidFill>
            <a:srgbClr val="EBF2FA"/>
          </a:solidFill>
          <a:ln w="19050">
            <a:solidFill>
              <a:srgbClr val="204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4982"/>
                </a:solidFill>
                <a:latin typeface="Calibri"/>
              </a:rPr>
              <a:t>Мета дослідження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alibri"/>
              </a:rPr>
              <a:t>Аналіз роботи локальної телекомунікаційної мережі, дослідження принципів конфігурації мережевого обладнання та забезпечення стабільної і безпечної роботи мережевої інфраструктури. Практика спрямована на закріплення теоретичних знань та отримання практичних навичок роботи з комутаторами та маршрутизаторами.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486400" cy="2651760"/>
          </a:xfrm>
          <a:prstGeom prst="roundRect">
            <a:avLst/>
          </a:prstGeom>
          <a:solidFill>
            <a:srgbClr val="EBF2FA"/>
          </a:solidFill>
          <a:ln w="1905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6A2EB"/>
                </a:solidFill>
                <a:latin typeface="Calibri"/>
              </a:rPr>
              <a:t>Об'єкт дослідження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alibri"/>
              </a:rPr>
              <a:t>Локальна комп'ютерна мережа гуртожитків КНУ та мережеве обладнання, що використовується для забезпечення доступу користувачів до мережі Інтернет: маршрутизатори MikroTik, керовані та некеровані комутатори D-Link, кабельна інфраструктура, точки доступу Wi-Fi.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11338560" cy="2606040"/>
          </a:xfrm>
          <a:prstGeom prst="roundRect">
            <a:avLst/>
          </a:prstGeom>
          <a:solidFill>
            <a:srgbClr val="EBF2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Предмет дослідження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Процеси конфігурації та адміністрування мережевого обладнання, технології VLAN, AAA та TACACS+, методи моніторингу мережі, виявлення конфліктів IP-адрес та способи забезпечення стабільної роботи телекомунікаційної інфраструктури. Особлива увага приділяється безпеці доступу адміністраторів і централізованому управлінню обладнанням.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Завдання та методи дослідження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04982"/>
                </a:solidFill>
                <a:latin typeface="Calibri"/>
              </a:rPr>
              <a:t>Основні завдання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Ознайомлення зі структурою та принципами роботи локальної мережі гуртожитків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Аналіз роботи маршрутизаторів, комутаторів та допоміжного мережевого обладнання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Налаштування VLAN та параметрів доступу для різних груп користувачів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Тестування нових конфігурацій комутаторів у реальних умовах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Аналіз технічної документації та формування таблиць сумісності обладнання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Участь у діагностиці та усуненні аварійних ситуацій у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04982"/>
                </a:solidFill>
                <a:latin typeface="Calibri"/>
              </a:rPr>
              <a:t>Методи дослідження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Технічний аналіз мережевого обладнання та його характеристик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Діагностика несправностей за допомогою мережевих утиліт (ping, traceroute, ARP)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Порівняння конфігурацій та перевірка сумісності обладнання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Спостереження за роботою інфраструктури в умовах реальної експлуатації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Робота з веб-інтерфейсами адміністрування D-Link та RouterOS MikroTik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•  Збір та систематизація даних щодо звернень користувачів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120640"/>
            <a:ext cx="3200400" cy="146304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572000" y="5120640"/>
            <a:ext cx="3200400" cy="146304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572000" y="5120640"/>
            <a:ext cx="3200400" cy="146304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Іконка / схема методології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Розділ 1. Структура локальної мережі гуртожитків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0" cy="530352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1234440"/>
            <a:ext cx="548640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57200" y="1234440"/>
            <a:ext cx="548640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Схема топології локальної мережі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4982"/>
                </a:solidFill>
                <a:latin typeface="Calibri"/>
              </a:rPr>
              <a:t>Архітектура мережі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56692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Локальна комп'ютерна мережа гуртожитків побудована для забезпечення стабільного доступу користувачів до мережі Інтернет та внутрішніх інформаційних ресурсів. Основу мережевої інфраструктури складають:</a:t>
            </a:r>
          </a:p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• Центральний маршрутизатор MikroTik RB5009UG+S+IN</a:t>
            </a:r>
          </a:p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• Керовані гігабітні комутатори D-Link DGS-1210 (L2)</a:t>
            </a:r>
          </a:p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• Некеровані комутатори серій D-Link DES-1000 / 2000</a:t>
            </a:r>
          </a:p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• Точки доступу Wi-Fi для гостьового сегмента</a:t>
            </a:r>
          </a:p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• Магістральні trunk-канали між комутаторами доступу</a:t>
            </a:r>
          </a:p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Логічне розділення користувачів реалізовано за допомогою технології VLAN, що дозволяє згрупувати пристрої незалежно від фізичного підключення та ізолювати трафік різних категорій користувачів.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Аналіз мережевого обладнання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572000" cy="530352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1234440"/>
            <a:ext cx="457200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57200" y="1234440"/>
            <a:ext cx="457200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Фото маршрутизатора / комутатора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4982"/>
                </a:solidFill>
                <a:latin typeface="Calibri"/>
              </a:rPr>
              <a:t>MikroTik RB5009UG+S+IN — центральний вузол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91640"/>
            <a:ext cx="6583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alibri"/>
              </a:rPr>
              <a:t>Високопродуктивний маршрутизатор з чотириядерним CPU та великим об'ємом оперативної пам'яті. 8× гігабітних Ethernet-портів і один порт 10G SFP+ дозволяють стабільно обслуговувати велику кількість одночасних сесій у мережі гуртожитку та забезпечують швидкісну передачу даних між зовнішнім каналом Інтернет та внутрішньою мережею.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7033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6A2EB"/>
                </a:solidFill>
                <a:latin typeface="Calibri"/>
              </a:rPr>
              <a:t>D-Link DGS-1210 — керовані комутатори доступу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114800"/>
            <a:ext cx="6583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alibri"/>
              </a:rPr>
              <a:t>Керовані гігабітні комутатори рівня L2. Підтримують технології VLAN, QoS, Loopback Detection та моніторинг мережевого трафіку. Використовуються для сегментації мережі та підключення великої кількості користувачів у межах окремих поверхів гуртожитків. Налаштування виконується через зручний веб-інтерфейс. Для базових потреб у мережі також використовуються некеровані комутатори серій DES-1000 / 2000.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Розділ 2.1. Налаштування VLAN та параметрів доступу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4982"/>
                </a:solidFill>
                <a:latin typeface="Calibri"/>
              </a:rPr>
              <a:t>Логічне розділення мережі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  <a:latin typeface="Calibri"/>
              </a:rPr>
              <a:t>На початку налаштувань виконувалося планування VLAN: для кожного сегмента визначалось логічне призначення та діапазон IP-адрес. Комутатори доступу підключені до магістрального комутатора через trunk-порти, а маршрутизація між VLAN виконується на MikroTik із створенням підінтерфейсів з тегуванням 802.1Q.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91840"/>
          <a:ext cx="7315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72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VLAN ID</a:t>
                      </a:r>
                    </a:p>
                  </a:txBody>
                  <a:tcPr>
                    <a:solidFill>
                      <a:srgbClr val="2049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Назва</a:t>
                      </a:r>
                    </a:p>
                  </a:txBody>
                  <a:tcPr>
                    <a:solidFill>
                      <a:srgbClr val="2049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Призначення</a:t>
                      </a:r>
                    </a:p>
                  </a:txBody>
                  <a:tcPr>
                    <a:solidFill>
                      <a:srgbClr val="2049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Діапазон IP-адрес</a:t>
                      </a:r>
                    </a:p>
                  </a:txBody>
                  <a:tcPr>
                    <a:solidFill>
                      <a:srgbClr val="204982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Адміністрація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192.168.10.0/24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Користувачі гуртожитку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192.168.20.0/24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Guest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Гості (Wi-Fi)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192.168.30.0/24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Сервери / Принтери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192.168.40.0/24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Management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Управління обладнанням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  <a:latin typeface="Calibri"/>
                        </a:rPr>
                        <a:t>192.168.99.0/24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0" y="1234440"/>
            <a:ext cx="3840480" cy="530352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046720" y="1234440"/>
            <a:ext cx="384048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046720" y="1234440"/>
            <a:ext cx="384048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0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Скриншот веб-інтерфейсу D-Link / схема VLAN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Розділ 2.2. Дослідження технологій AAA та TACACS+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4982"/>
                </a:solidFill>
                <a:latin typeface="Calibri"/>
              </a:rPr>
              <a:t>Модель AAA — три етапи контролю доступу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468880" cy="2194560"/>
          </a:xfrm>
          <a:prstGeom prst="roundRect">
            <a:avLst/>
          </a:prstGeom>
          <a:solidFill>
            <a:srgbClr val="EBF2FA"/>
          </a:solidFill>
          <a:ln w="1905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6A2EB"/>
                </a:solidFill>
                <a:latin typeface="Calibri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529"/>
                </a:solidFill>
                <a:latin typeface="Calibri"/>
              </a:rPr>
              <a:t>Перевірка облікових даних користувача (логін і пароль) при спробі підключення до комутатора чи маршрутизатора.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737360"/>
            <a:ext cx="2468880" cy="2194560"/>
          </a:xfrm>
          <a:prstGeom prst="roundRect">
            <a:avLst/>
          </a:prstGeom>
          <a:solidFill>
            <a:srgbClr val="EBF2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529"/>
                </a:solidFill>
                <a:latin typeface="Calibri"/>
              </a:rPr>
              <a:t>Визначення переліку команд і дій, які дозволено виконувати конкретному адміністратору після успішного входу в систему.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737360"/>
            <a:ext cx="2468880" cy="2194560"/>
          </a:xfrm>
          <a:prstGeom prst="roundRect">
            <a:avLst/>
          </a:prstGeom>
          <a:solidFill>
            <a:srgbClr val="EBF2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8288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Accounting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24028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12529"/>
                </a:solidFill>
                <a:latin typeface="Calibri"/>
              </a:rPr>
              <a:t>Фіксація всіх дій користувача в системі. Дозволяє відстежувати зміни конфігурації та проводити аудит у разі несправностей.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4982"/>
                </a:solidFill>
                <a:latin typeface="Calibri"/>
              </a:rPr>
              <a:t>Навіщо потрібен TACACS+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12529"/>
                </a:solidFill>
                <a:latin typeface="Calibri"/>
              </a:rPr>
              <a:t>•  Централізоване керування: один обліковий запис для всіх 20+ комутаторів гуртожитку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529"/>
                </a:solidFill>
                <a:latin typeface="Calibri"/>
              </a:rPr>
              <a:t>•  Повне шифрування трафіку між комутатором і сервером (на відміну від RADIUS)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529"/>
                </a:solidFill>
                <a:latin typeface="Calibri"/>
              </a:rPr>
              <a:t>•  Розмежування прав: окремі рівні для admin, operator та monitor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529"/>
                </a:solidFill>
                <a:latin typeface="Calibri"/>
              </a:rPr>
              <a:t>•  Інтеграція із сервером Cisco ISE 2.6 і ведення журналу обліку дій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234440"/>
            <a:ext cx="3566160" cy="530352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321040" y="1234440"/>
            <a:ext cx="356616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321040" y="1234440"/>
            <a:ext cx="356616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21040" y="3703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Схема AAA + TACACS+ / Cisco 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Розділ 3. Виконання професійних обов'язків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4982"/>
                </a:solidFill>
                <a:latin typeface="Calibri"/>
              </a:rPr>
              <a:t>Основні досягнення під час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12529"/>
                </a:solidFill>
                <a:latin typeface="Calibri"/>
              </a:rPr>
              <a:t>•  ПЗО.1 — у складі технічної команди брав участь в усуненні аварійного відключення маршрутизатора у гуртожитку №10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12529"/>
                </a:solidFill>
                <a:latin typeface="Calibri"/>
              </a:rPr>
              <a:t>•  ПЗО.2 — провів аналіз стану мережевого обладнання та оцінку показників роботи мережі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12529"/>
                </a:solidFill>
                <a:latin typeface="Calibri"/>
              </a:rPr>
              <a:t>•  ПЗО.3 — підготував технічний висновок щодо необхідності резервних блоків живлення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12529"/>
                </a:solidFill>
                <a:latin typeface="Calibri"/>
              </a:rPr>
              <a:t>•  ПЗО.5 — надавав допомогу в тестуванні нових конфігурацій та діагностиці конфліктів IP-адрес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12529"/>
                </a:solidFill>
                <a:latin typeface="Calibri"/>
              </a:rPr>
              <a:t>•  ПЗО.6 — брав участь у складанні кошторису на модернізацію та заміну обладнання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12529"/>
                </a:solidFill>
                <a:latin typeface="Calibri"/>
              </a:rPr>
              <a:t>•  ПЗО.7 — здійснював збір та систематизацію звернень користувачів через Google Форми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12529"/>
                </a:solidFill>
                <a:latin typeface="Calibri"/>
              </a:rPr>
              <a:t>•  ПЗО.8 — сформував таблиці сумісності блоків живлення Proline для DGS-1210 та DES-1000/2000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12529"/>
                </a:solidFill>
                <a:latin typeface="Calibri"/>
              </a:rPr>
              <a:t>•  ПЗО.9 — налаштовував керовані комутатори D-Link, впровадив сегментацію VLAN та систему AAA на базі TACACS+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234440"/>
            <a:ext cx="3383280" cy="530352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503920" y="1234440"/>
            <a:ext cx="338328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503920" y="1234440"/>
            <a:ext cx="3383280" cy="53035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Фото з робочого процесу / чек-лист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Висновки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772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Закріплено теоретичні знання за спеціальністю 172 «Телекомунікації та радіотехніка» та здобуто практичні навички роботи з реальною мережевою інфраструктурою.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Отримано досвід налаштування маршрутизаторів MikroTik і керованих комутаторів D-Link, конфігурації VLAN, сегментації мережі та параметрів доступу користувачів.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Досліджено технології централізованого керування доступом — модель AAA та протокол TACACS+, що дозволило зрозуміти принципи підвищення рівня безпеки та аудиту дій адміністраторів.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Виконано моніторинг роботи обладнання, діагностику аварійних ситуацій і оцінку навантаження на мережу в умовах реальної експлуатації.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Здобуто досвід командної роботи з технічними спеціалістами, підготовки технічної документації та аналітичних матеріалів.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Підтверджено виконання понад 2/3 професійних завдань для кваліфікації «Фахівець електронних комунікацій» — програма практики виконана у повному обсязі.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417320"/>
            <a:ext cx="3291840" cy="3931920"/>
          </a:xfrm>
          <a:prstGeom prst="rect">
            <a:avLst/>
          </a:prstGeom>
          <a:solidFill>
            <a:srgbClr val="F4F6F9"/>
          </a:solidFill>
          <a:ln w="19050">
            <a:solidFill>
              <a:srgbClr val="B0B8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503920" y="1417320"/>
            <a:ext cx="3291840" cy="39319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503920" y="1417320"/>
            <a:ext cx="3291840" cy="3931920"/>
          </a:xfrm>
          <a:prstGeom prst="line">
            <a:avLst/>
          </a:prstGeom>
          <a:ln w="9525">
            <a:solidFill>
              <a:srgbClr val="B0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0392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C757D"/>
                </a:solidFill>
                <a:latin typeface="Calibri"/>
              </a:rPr>
              <a:t>Фінальне зображення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5532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  <a:latin typeface="Calibri"/>
              </a:rPr>
              <a:t>Дякую за увагу!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989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BF2FA"/>
                </a:solidFill>
                <a:latin typeface="Calibri"/>
              </a:rPr>
              <a:t>Готовий відповісти на питання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